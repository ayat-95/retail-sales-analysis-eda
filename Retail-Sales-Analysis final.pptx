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  <p:embeddedFont>
      <p:font typeface="Space Grotesk Bold" panose="020B0604020202020204" charset="0"/>
      <p:regular r:id="rId16"/>
    </p:embeddedFont>
    <p:embeddedFont>
      <p:font typeface="Space Grotesk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38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jpe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759" y="814288"/>
            <a:ext cx="30726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RETAIL SALES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4759" y="1193205"/>
            <a:ext cx="88129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From sales data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 business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decisions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4759" y="4158933"/>
            <a:ext cx="647217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data, explore the results,</a:t>
            </a:r>
            <a:endParaRPr lang="en-US" sz="2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turn them into simple recommendations.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28"/>
            <a:ext cx="9004174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DECISION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5099"/>
            <a:ext cx="9004174" cy="390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analysis followed 3 simple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1541"/>
            <a:ext cx="1131799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analysis moved from understanding the data to making simple recommendations.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" y="2284611"/>
            <a:ext cx="3395181" cy="2215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0999" y="2305439"/>
            <a:ext cx="158686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0999" y="2768580"/>
            <a:ext cx="158686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0999" y="3291582"/>
            <a:ext cx="334319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sales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0999" y="3606502"/>
            <a:ext cx="334319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business questions.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873" y="2284611"/>
            <a:ext cx="3292988" cy="22159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0873" y="2305439"/>
            <a:ext cx="449648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0873" y="2768084"/>
            <a:ext cx="10592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60873" y="3263602"/>
            <a:ext cx="254251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at sales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60873" y="3578523"/>
            <a:ext cx="326004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products, categories,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60873" y="3921423"/>
            <a:ext cx="326004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customers, channels, and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60873" y="4236343"/>
            <a:ext cx="133227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260151" y="2305439"/>
            <a:ext cx="45074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8260151" y="2768084"/>
            <a:ext cx="172447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260151" y="3263602"/>
            <a:ext cx="25740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results into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260151" y="3606502"/>
            <a:ext cx="25740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business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260151" y="3921423"/>
            <a:ext cx="25740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recommendations.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09585" y="4867573"/>
            <a:ext cx="67296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clear steps keep the analysis connected to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648027"/>
            <a:ext cx="10972526" cy="9525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3" name="Text 1"/>
          <p:cNvSpPr/>
          <p:nvPr/>
        </p:nvSpPr>
        <p:spPr>
          <a:xfrm>
            <a:off x="853359" y="642838"/>
            <a:ext cx="31729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&amp; CLEANING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86321"/>
            <a:ext cx="78362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was cleaned and prepared before doing the analysis.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1619746"/>
            <a:ext cx="389582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data was treated.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34989"/>
          <a:ext cx="10972526" cy="3135632"/>
        </p:xfrm>
        <a:graphic>
          <a:graphicData uri="http://schemas.openxmlformats.org/drawingml/2006/table">
            <a:tbl>
              <a:tblPr/>
              <a:tblGrid>
                <a:gridCol w="2472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3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36576" marB="36576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36576" marB="36576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TREATMENT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36576" marB="36576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 Date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123060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123060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missing data.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123060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Filled in From Category and price columns.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 per Unit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Calculated using Total Spent ÷ Quantity.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Quantity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Filled using the median.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2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Spent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Calculated using Price × Quantity.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113662" marB="101343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Discount Applied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794" marR="102867" marT="113662" marB="10541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2867" marR="102867" marT="113662" marB="10541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Labeled as Unknown.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637" marR="102867" marT="113662" marB="10541" anchor="ctr">
                    <a:lnL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9" y="5857875"/>
            <a:ext cx="47624" cy="4762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59" y="6115050"/>
            <a:ext cx="47624" cy="47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3380" y="5740698"/>
            <a:ext cx="82238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type: Transaction Date Was converted to date format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Outliers: Unusual Total Spent values were kept because they were valid, real transactions.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11806835" y="6446441"/>
            <a:ext cx="3848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191E24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81000"/>
            <a:ext cx="6527637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kern="100" spc="87" dirty="0">
                <a:solidFill>
                  <a:srgbClr val="9FD1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INTERACTIVE ANALYSIS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0990" y="781844"/>
            <a:ext cx="61720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Streamlit dashboard makes the analysis interactive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80990" y="1774031"/>
            <a:ext cx="65276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finished analysis to move from a headline KPI into the evidence behind it.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0" y="2110581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0990" y="2684443"/>
            <a:ext cx="19557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Scan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0990" y="3009305"/>
            <a:ext cx="1955751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cards and revenue trends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138" y="2110581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89138" y="2684443"/>
            <a:ext cx="19557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Compare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89138" y="3009305"/>
            <a:ext cx="1955751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Categories, products, and discounts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285" y="2110581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7285" y="2684443"/>
            <a:ext cx="19557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Drill in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97285" y="3009305"/>
            <a:ext cx="1955751" cy="82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Customers, payment usage, and location split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857641-B3B4-CC4F-47E8-28EDAAD49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627" y="519311"/>
            <a:ext cx="5080768" cy="5938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355600"/>
            <a:ext cx="11759906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HEADLINE PERFORMANCE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31789" y="746347"/>
            <a:ext cx="1132811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Revenue is concentrated around a few clear winners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1789" y="1352352"/>
            <a:ext cx="2832029" cy="1571427"/>
          </a:xfrm>
          <a:custGeom>
            <a:avLst/>
            <a:gdLst/>
            <a:ahLst/>
            <a:cxnLst/>
            <a:rect l="l" t="t" r="r" b="b"/>
            <a:pathLst>
              <a:path w="2832029" h="1571427">
                <a:moveTo>
                  <a:pt x="75563" y="0"/>
                </a:moveTo>
                <a:lnTo>
                  <a:pt x="2832029" y="0"/>
                </a:lnTo>
                <a:lnTo>
                  <a:pt x="2832029" y="1571427"/>
                </a:lnTo>
                <a:lnTo>
                  <a:pt x="75563" y="1571427"/>
                </a:lnTo>
                <a:arcTo wR="75563" hR="75565" stAng="5400000" swAng="5400000"/>
                <a:lnTo>
                  <a:pt x="0" y="75565"/>
                </a:lnTo>
                <a:arcTo wR="75563" hR="75565" stAng="10800000" swAng="5400000"/>
                <a:close/>
              </a:path>
            </a:pathLst>
          </a:custGeom>
          <a:solidFill>
            <a:srgbClr val="2A3036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530152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4984" y="1941215"/>
            <a:ext cx="262883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A8E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$1,637,367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63818" y="1352352"/>
            <a:ext cx="2832029" cy="1571427"/>
          </a:xfrm>
          <a:prstGeom prst="rect">
            <a:avLst/>
          </a:prstGeom>
          <a:solidFill>
            <a:srgbClr val="2A3036"/>
          </a:solidFill>
          <a:ln/>
        </p:spPr>
      </p:sp>
      <p:sp>
        <p:nvSpPr>
          <p:cNvPr id="8" name="Text 6"/>
          <p:cNvSpPr/>
          <p:nvPr/>
        </p:nvSpPr>
        <p:spPr>
          <a:xfrm>
            <a:off x="3467013" y="1530152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CATEGORY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67013" y="1941215"/>
            <a:ext cx="262883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$218,153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67013" y="2494756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Butchers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48" y="1352352"/>
            <a:ext cx="2832029" cy="1571427"/>
          </a:xfrm>
          <a:prstGeom prst="rect">
            <a:avLst/>
          </a:prstGeom>
          <a:solidFill>
            <a:srgbClr val="2A3036"/>
          </a:solidFill>
          <a:ln/>
        </p:spPr>
      </p:sp>
      <p:sp>
        <p:nvSpPr>
          <p:cNvPr id="12" name="Text 10"/>
          <p:cNvSpPr/>
          <p:nvPr/>
        </p:nvSpPr>
        <p:spPr>
          <a:xfrm>
            <a:off x="6299042" y="1530152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CHANNEL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99042" y="1941215"/>
            <a:ext cx="262883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$831,922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99042" y="2494756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927877" y="1352352"/>
            <a:ext cx="2832029" cy="1571427"/>
          </a:xfrm>
          <a:custGeom>
            <a:avLst/>
            <a:gdLst/>
            <a:ahLst/>
            <a:cxnLst/>
            <a:rect l="l" t="t" r="r" b="b"/>
            <a:pathLst>
              <a:path w="2832029" h="1571427">
                <a:moveTo>
                  <a:pt x="0" y="0"/>
                </a:moveTo>
                <a:lnTo>
                  <a:pt x="2756466" y="0"/>
                </a:lnTo>
                <a:arcTo wR="75563" hR="75565" stAng="16200000" swAng="5400000"/>
                <a:lnTo>
                  <a:pt x="2832029" y="1495862"/>
                </a:lnTo>
                <a:arcTo wR="75563" hR="75565" stAng="0" swAng="5400000"/>
                <a:lnTo>
                  <a:pt x="0" y="1571427"/>
                </a:lnTo>
                <a:lnTo>
                  <a:pt x="0" y="0"/>
                </a:lnTo>
                <a:close/>
              </a:path>
            </a:pathLst>
          </a:custGeom>
          <a:solidFill>
            <a:srgbClr val="2A3036"/>
          </a:solidFill>
          <a:ln/>
        </p:spPr>
      </p:sp>
      <p:sp>
        <p:nvSpPr>
          <p:cNvPr id="16" name="Text 14"/>
          <p:cNvSpPr/>
          <p:nvPr/>
        </p:nvSpPr>
        <p:spPr>
          <a:xfrm>
            <a:off x="9131072" y="1530152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CUSTOMER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31072" y="1941215"/>
            <a:ext cx="262883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$71,890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31072" y="2494756"/>
            <a:ext cx="2628834" cy="27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CUST_24</a:t>
            </a:r>
            <a:endParaRPr lang="en-US" sz="14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" y="3076178"/>
            <a:ext cx="11175720" cy="2667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257469" y="1352352"/>
            <a:ext cx="12700" cy="1571427"/>
          </a:xfrm>
          <a:prstGeom prst="rect">
            <a:avLst/>
          </a:prstGeom>
          <a:solidFill>
            <a:srgbClr val="2C3138"/>
          </a:solidFill>
          <a:ln/>
        </p:spPr>
      </p:sp>
      <p:sp>
        <p:nvSpPr>
          <p:cNvPr id="21" name="Shape 18"/>
          <p:cNvSpPr/>
          <p:nvPr/>
        </p:nvSpPr>
        <p:spPr>
          <a:xfrm>
            <a:off x="6089498" y="1352352"/>
            <a:ext cx="12700" cy="1571427"/>
          </a:xfrm>
          <a:prstGeom prst="rect">
            <a:avLst/>
          </a:prstGeom>
          <a:solidFill>
            <a:srgbClr val="2C3138"/>
          </a:solidFill>
          <a:ln/>
        </p:spPr>
      </p:sp>
      <p:sp>
        <p:nvSpPr>
          <p:cNvPr id="22" name="Shape 19"/>
          <p:cNvSpPr/>
          <p:nvPr/>
        </p:nvSpPr>
        <p:spPr>
          <a:xfrm>
            <a:off x="8921527" y="1352352"/>
            <a:ext cx="12700" cy="1571427"/>
          </a:xfrm>
          <a:prstGeom prst="rect">
            <a:avLst/>
          </a:prstGeom>
          <a:solidFill>
            <a:srgbClr val="2C313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9622" y="371852"/>
            <a:ext cx="463826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Butchers Items by Revenue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31680" y="741032"/>
            <a:ext cx="7857730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Butchers was the best category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600575"/>
            <a:ext cx="3286043" cy="1952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085" y="4827885"/>
            <a:ext cx="20795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CATEGORY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12085" y="5086166"/>
            <a:ext cx="4452628" cy="8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AEE4B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$218,153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12085" y="6170910"/>
            <a:ext cx="222730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revenue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974" y="4600575"/>
            <a:ext cx="3286043" cy="1952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28200" y="4827885"/>
            <a:ext cx="234051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FOCUS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228200" y="5020963"/>
            <a:ext cx="306717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available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228200" y="5664002"/>
            <a:ext cx="437107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 as an example for other categories.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99325" y="6475016"/>
            <a:ext cx="81694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69" y="1419225"/>
            <a:ext cx="749579" cy="21242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69" y="1419225"/>
            <a:ext cx="749579" cy="21242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6818" y="1460202"/>
            <a:ext cx="112283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1</a:t>
            </a:r>
            <a:endParaRPr lang="en-US" sz="9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500" y="1467941"/>
            <a:ext cx="89890" cy="112316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757" y="1419225"/>
            <a:ext cx="949599" cy="212427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757" y="1419225"/>
            <a:ext cx="949599" cy="212427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370871" y="1460202"/>
            <a:ext cx="1332375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Spent</a:t>
            </a:r>
            <a:endParaRPr lang="en-US" sz="9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689" y="1467941"/>
            <a:ext cx="89890" cy="112316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275723" y="4017189"/>
            <a:ext cx="696994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50" dirty="0"/>
          </a:p>
        </p:txBody>
      </p:sp>
      <p:sp>
        <p:nvSpPr>
          <p:cNvPr id="25" name="Text 12"/>
          <p:cNvSpPr/>
          <p:nvPr/>
        </p:nvSpPr>
        <p:spPr>
          <a:xfrm>
            <a:off x="6857035" y="4017189"/>
            <a:ext cx="904158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24k</a:t>
            </a:r>
            <a:endParaRPr lang="en-US" sz="105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011" y="2151955"/>
            <a:ext cx="99911" cy="12402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254490" y="2116630"/>
            <a:ext cx="1747298" cy="161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Item_25_BUT</a:t>
            </a:r>
            <a:endParaRPr lang="en-US" sz="1050" dirty="0"/>
          </a:p>
        </p:txBody>
      </p:sp>
      <p:sp>
        <p:nvSpPr>
          <p:cNvPr id="28" name="Shape 14"/>
          <p:cNvSpPr/>
          <p:nvPr/>
        </p:nvSpPr>
        <p:spPr>
          <a:xfrm>
            <a:off x="1319179" y="2023864"/>
            <a:ext cx="3770" cy="268585"/>
          </a:xfrm>
          <a:custGeom>
            <a:avLst/>
            <a:gdLst/>
            <a:ahLst/>
            <a:cxnLst/>
            <a:rect l="l" t="t" r="r" b="b"/>
            <a:pathLst>
              <a:path w="3770" h="268585">
                <a:moveTo>
                  <a:pt x="0" y="19419"/>
                </a:moveTo>
                <a:lnTo>
                  <a:pt x="229" y="14342"/>
                </a:lnTo>
                <a:lnTo>
                  <a:pt x="914" y="9454"/>
                </a:lnTo>
                <a:lnTo>
                  <a:pt x="2057" y="4754"/>
                </a:lnTo>
                <a:lnTo>
                  <a:pt x="3656" y="242"/>
                </a:lnTo>
                <a:lnTo>
                  <a:pt x="3770" y="0"/>
                </a:lnTo>
                <a:lnTo>
                  <a:pt x="3770" y="268585"/>
                </a:lnTo>
                <a:lnTo>
                  <a:pt x="3656" y="268343"/>
                </a:lnTo>
                <a:lnTo>
                  <a:pt x="2057" y="263831"/>
                </a:lnTo>
                <a:lnTo>
                  <a:pt x="914" y="259131"/>
                </a:lnTo>
                <a:lnTo>
                  <a:pt x="229" y="254243"/>
                </a:lnTo>
                <a:lnTo>
                  <a:pt x="0" y="249166"/>
                </a:lnTo>
                <a:close/>
              </a:path>
            </a:pathLst>
          </a:custGeom>
          <a:solidFill>
            <a:srgbClr val="AEE4BD"/>
          </a:solidFill>
          <a:ln/>
        </p:spPr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9179" y="1993305"/>
            <a:ext cx="5583098" cy="329605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2494" y="2046287"/>
            <a:ext cx="399742" cy="224830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3949899" y="2087217"/>
            <a:ext cx="1010220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23.7k</a:t>
            </a:r>
            <a:endParaRPr lang="en-US" sz="95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011" y="2563912"/>
            <a:ext cx="99911" cy="12402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252704" y="2528685"/>
            <a:ext cx="1747298" cy="161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Item_22_BUT</a:t>
            </a:r>
            <a:endParaRPr lang="en-US" sz="1050" dirty="0"/>
          </a:p>
        </p:txBody>
      </p:sp>
      <p:sp>
        <p:nvSpPr>
          <p:cNvPr id="34" name="Shape 17"/>
          <p:cNvSpPr/>
          <p:nvPr/>
        </p:nvSpPr>
        <p:spPr>
          <a:xfrm>
            <a:off x="1319179" y="2437805"/>
            <a:ext cx="2976" cy="264716"/>
          </a:xfrm>
          <a:custGeom>
            <a:avLst/>
            <a:gdLst/>
            <a:ahLst/>
            <a:cxnLst/>
            <a:rect l="l" t="t" r="r" b="b"/>
            <a:pathLst>
              <a:path w="2976" h="264716">
                <a:moveTo>
                  <a:pt x="0" y="17524"/>
                </a:moveTo>
                <a:lnTo>
                  <a:pt x="222" y="12442"/>
                </a:lnTo>
                <a:lnTo>
                  <a:pt x="888" y="7544"/>
                </a:lnTo>
                <a:lnTo>
                  <a:pt x="1999" y="2832"/>
                </a:lnTo>
                <a:lnTo>
                  <a:pt x="2976" y="0"/>
                </a:lnTo>
                <a:lnTo>
                  <a:pt x="2976" y="264716"/>
                </a:lnTo>
                <a:lnTo>
                  <a:pt x="1999" y="261883"/>
                </a:lnTo>
                <a:lnTo>
                  <a:pt x="888" y="257171"/>
                </a:lnTo>
                <a:lnTo>
                  <a:pt x="222" y="252274"/>
                </a:lnTo>
                <a:lnTo>
                  <a:pt x="0" y="247191"/>
                </a:lnTo>
                <a:close/>
              </a:path>
            </a:pathLst>
          </a:custGeom>
          <a:solidFill>
            <a:srgbClr val="AEE4BD"/>
          </a:solidFill>
          <a:ln/>
        </p:spPr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9179" y="2405459"/>
            <a:ext cx="5322854" cy="329605"/>
          </a:xfrm>
          <a:prstGeom prst="rect">
            <a:avLst/>
          </a:prstGeom>
        </p:spPr>
      </p:pic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8354" y="2458442"/>
            <a:ext cx="412343" cy="224830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3815858" y="2499273"/>
            <a:ext cx="1010220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22.6k</a:t>
            </a:r>
            <a:endParaRPr lang="en-US" sz="950" dirty="0"/>
          </a:p>
        </p:txBody>
      </p:sp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011" y="2976066"/>
            <a:ext cx="99911" cy="12402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251116" y="2940840"/>
            <a:ext cx="1747298" cy="161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Item_23_BUT</a:t>
            </a:r>
            <a:endParaRPr lang="en-US" sz="1050" dirty="0"/>
          </a:p>
        </p:txBody>
      </p:sp>
      <p:sp>
        <p:nvSpPr>
          <p:cNvPr id="40" name="Shape 20"/>
          <p:cNvSpPr/>
          <p:nvPr/>
        </p:nvSpPr>
        <p:spPr>
          <a:xfrm>
            <a:off x="1319179" y="2849364"/>
            <a:ext cx="3274" cy="266005"/>
          </a:xfrm>
          <a:custGeom>
            <a:avLst/>
            <a:gdLst/>
            <a:ahLst/>
            <a:cxnLst/>
            <a:rect l="l" t="t" r="r" b="b"/>
            <a:pathLst>
              <a:path w="3274" h="266005">
                <a:moveTo>
                  <a:pt x="0" y="18168"/>
                </a:moveTo>
                <a:lnTo>
                  <a:pt x="227" y="13087"/>
                </a:lnTo>
                <a:lnTo>
                  <a:pt x="907" y="8193"/>
                </a:lnTo>
                <a:lnTo>
                  <a:pt x="2042" y="3511"/>
                </a:lnTo>
                <a:lnTo>
                  <a:pt x="3274" y="0"/>
                </a:lnTo>
                <a:lnTo>
                  <a:pt x="3274" y="266005"/>
                </a:lnTo>
                <a:lnTo>
                  <a:pt x="2042" y="262494"/>
                </a:lnTo>
                <a:lnTo>
                  <a:pt x="907" y="257813"/>
                </a:lnTo>
                <a:lnTo>
                  <a:pt x="227" y="252918"/>
                </a:lnTo>
                <a:lnTo>
                  <a:pt x="0" y="247837"/>
                </a:lnTo>
                <a:close/>
              </a:path>
            </a:pathLst>
          </a:custGeom>
          <a:solidFill>
            <a:srgbClr val="AEE4BD"/>
          </a:solidFill>
          <a:ln/>
        </p:spPr>
      </p:sp>
      <p:pic>
        <p:nvPicPr>
          <p:cNvPr id="41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9179" y="2817416"/>
            <a:ext cx="5237031" cy="329605"/>
          </a:xfrm>
          <a:prstGeom prst="rect">
            <a:avLst/>
          </a:prstGeom>
        </p:spPr>
      </p:pic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4699" y="2870498"/>
            <a:ext cx="412343" cy="22483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3772103" y="2911427"/>
            <a:ext cx="1010220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22.2k</a:t>
            </a:r>
            <a:endParaRPr lang="en-US" sz="950" dirty="0"/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011" y="3388221"/>
            <a:ext cx="99911" cy="12402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254787" y="3352895"/>
            <a:ext cx="1747298" cy="161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Item_20_BUT</a:t>
            </a:r>
            <a:endParaRPr lang="en-US" sz="1050" dirty="0"/>
          </a:p>
        </p:txBody>
      </p:sp>
      <p:sp>
        <p:nvSpPr>
          <p:cNvPr id="46" name="Shape 23"/>
          <p:cNvSpPr/>
          <p:nvPr/>
        </p:nvSpPr>
        <p:spPr>
          <a:xfrm>
            <a:off x="1319179" y="3263305"/>
            <a:ext cx="2480" cy="262037"/>
          </a:xfrm>
          <a:custGeom>
            <a:avLst/>
            <a:gdLst/>
            <a:ahLst/>
            <a:cxnLst/>
            <a:rect l="l" t="t" r="r" b="b"/>
            <a:pathLst>
              <a:path w="2480" h="262037">
                <a:moveTo>
                  <a:pt x="0" y="16194"/>
                </a:moveTo>
                <a:lnTo>
                  <a:pt x="219" y="11110"/>
                </a:lnTo>
                <a:lnTo>
                  <a:pt x="875" y="6210"/>
                </a:lnTo>
                <a:lnTo>
                  <a:pt x="1969" y="1520"/>
                </a:lnTo>
                <a:lnTo>
                  <a:pt x="2480" y="0"/>
                </a:lnTo>
                <a:lnTo>
                  <a:pt x="2480" y="262037"/>
                </a:lnTo>
                <a:lnTo>
                  <a:pt x="1969" y="260517"/>
                </a:lnTo>
                <a:lnTo>
                  <a:pt x="875" y="255826"/>
                </a:lnTo>
                <a:lnTo>
                  <a:pt x="219" y="250926"/>
                </a:lnTo>
                <a:lnTo>
                  <a:pt x="0" y="245843"/>
                </a:lnTo>
                <a:close/>
              </a:path>
            </a:pathLst>
          </a:custGeom>
          <a:solidFill>
            <a:srgbClr val="AEE4BD"/>
          </a:solidFill>
          <a:ln/>
        </p:spPr>
      </p:sp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9179" y="3229570"/>
            <a:ext cx="4735196" cy="329605"/>
          </a:xfrm>
          <a:prstGeom prst="rect">
            <a:avLst/>
          </a:prstGeom>
        </p:spPr>
      </p:pic>
      <p:pic>
        <p:nvPicPr>
          <p:cNvPr id="48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1044" y="3282553"/>
            <a:ext cx="374839" cy="224830"/>
          </a:xfrm>
          <a:prstGeom prst="rect">
            <a:avLst/>
          </a:prstGeom>
        </p:spPr>
      </p:pic>
      <p:sp>
        <p:nvSpPr>
          <p:cNvPr id="49" name="Text 24"/>
          <p:cNvSpPr/>
          <p:nvPr/>
        </p:nvSpPr>
        <p:spPr>
          <a:xfrm>
            <a:off x="3538449" y="3323384"/>
            <a:ext cx="1010220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20.1k</a:t>
            </a:r>
            <a:endParaRPr lang="en-US" sz="950" dirty="0"/>
          </a:p>
        </p:txBody>
      </p:sp>
      <p:pic>
        <p:nvPicPr>
          <p:cNvPr id="50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011" y="3800277"/>
            <a:ext cx="99911" cy="12402"/>
          </a:xfrm>
          <a:prstGeom prst="rect">
            <a:avLst/>
          </a:prstGeom>
        </p:spPr>
      </p:pic>
      <p:sp>
        <p:nvSpPr>
          <p:cNvPr id="51" name="Text 25"/>
          <p:cNvSpPr/>
          <p:nvPr/>
        </p:nvSpPr>
        <p:spPr>
          <a:xfrm>
            <a:off x="298542" y="3754953"/>
            <a:ext cx="1747298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Item_16_BUT</a:t>
            </a:r>
            <a:endParaRPr lang="en-US" sz="1050" dirty="0"/>
          </a:p>
        </p:txBody>
      </p:sp>
      <p:sp>
        <p:nvSpPr>
          <p:cNvPr id="52" name="Shape 26"/>
          <p:cNvSpPr/>
          <p:nvPr/>
        </p:nvSpPr>
        <p:spPr>
          <a:xfrm>
            <a:off x="1319179" y="3679627"/>
            <a:ext cx="1389" cy="253702"/>
          </a:xfrm>
          <a:custGeom>
            <a:avLst/>
            <a:gdLst/>
            <a:ahLst/>
            <a:cxnLst/>
            <a:rect l="l" t="t" r="r" b="b"/>
            <a:pathLst>
              <a:path w="1389" h="253702">
                <a:moveTo>
                  <a:pt x="0" y="12025"/>
                </a:moveTo>
                <a:lnTo>
                  <a:pt x="225" y="6951"/>
                </a:lnTo>
                <a:lnTo>
                  <a:pt x="898" y="2055"/>
                </a:lnTo>
                <a:lnTo>
                  <a:pt x="1389" y="0"/>
                </a:lnTo>
                <a:lnTo>
                  <a:pt x="1389" y="253702"/>
                </a:lnTo>
                <a:lnTo>
                  <a:pt x="898" y="251647"/>
                </a:lnTo>
                <a:lnTo>
                  <a:pt x="225" y="246751"/>
                </a:lnTo>
                <a:lnTo>
                  <a:pt x="0" y="241677"/>
                </a:lnTo>
                <a:close/>
              </a:path>
            </a:pathLst>
          </a:custGeom>
          <a:solidFill>
            <a:srgbClr val="AEE4BD"/>
          </a:solidFill>
          <a:ln/>
        </p:spPr>
      </p:sp>
      <p:pic>
        <p:nvPicPr>
          <p:cNvPr id="53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9179" y="3641725"/>
            <a:ext cx="3114597" cy="329605"/>
          </a:xfrm>
          <a:prstGeom prst="rect">
            <a:avLst/>
          </a:prstGeom>
        </p:spPr>
      </p:pic>
      <p:pic>
        <p:nvPicPr>
          <p:cNvPr id="54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85388" y="3694609"/>
            <a:ext cx="387340" cy="224830"/>
          </a:xfrm>
          <a:prstGeom prst="rect">
            <a:avLst/>
          </a:prstGeom>
        </p:spPr>
      </p:pic>
      <p:sp>
        <p:nvSpPr>
          <p:cNvPr id="55" name="Text 27"/>
          <p:cNvSpPr/>
          <p:nvPr/>
        </p:nvSpPr>
        <p:spPr>
          <a:xfrm>
            <a:off x="2722891" y="3726299"/>
            <a:ext cx="1010220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13.2k</a:t>
            </a:r>
            <a:endParaRPr lang="en-US" sz="950" dirty="0"/>
          </a:p>
        </p:txBody>
      </p:sp>
      <p:sp>
        <p:nvSpPr>
          <p:cNvPr id="56" name="Text 28"/>
          <p:cNvSpPr/>
          <p:nvPr/>
        </p:nvSpPr>
        <p:spPr>
          <a:xfrm>
            <a:off x="257169" y="1732256"/>
            <a:ext cx="1000298" cy="161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1934"/>
            <a:ext cx="8912597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SALES CHANNEL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737262"/>
            <a:ext cx="10184947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Online is the most important sales channel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386" y="1713706"/>
            <a:ext cx="20387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channel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701" y="1343025"/>
            <a:ext cx="3857528" cy="3438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2700" y="5336655"/>
            <a:ext cx="7468405" cy="630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revenue: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$831,922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and in store is nearly equal but online has slight edge.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-12700" y="6165330"/>
            <a:ext cx="10399055" cy="630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maintain this lead, make shopping easier, faster, and more reliable. Use bundles and special offers</a:t>
            </a:r>
            <a:endParaRPr lang="en-US" sz="17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encourage customers to buy more.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625" y="2108200"/>
            <a:ext cx="1457289" cy="277564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942" y="2108200"/>
            <a:ext cx="1388036" cy="277227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138" y="3183334"/>
            <a:ext cx="1212820" cy="21252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8138" y="3183334"/>
            <a:ext cx="1212820" cy="21252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652946" y="3211810"/>
            <a:ext cx="1654233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· 50.81%</a:t>
            </a:r>
            <a:endParaRPr lang="en-US" sz="9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2910" y="3237309"/>
            <a:ext cx="101300" cy="101302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8138" y="3495873"/>
            <a:ext cx="1262825" cy="212527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8138" y="3495873"/>
            <a:ext cx="1262825" cy="212527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5652946" y="3536950"/>
            <a:ext cx="1808514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store · 49.19%</a:t>
            </a:r>
            <a:endParaRPr lang="en-US" sz="9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2910" y="3549948"/>
            <a:ext cx="101300" cy="101302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756329" y="3515360"/>
            <a:ext cx="1159937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50.81%</a:t>
            </a:r>
            <a:endParaRPr lang="en-US" sz="950" dirty="0"/>
          </a:p>
        </p:txBody>
      </p:sp>
      <p:sp>
        <p:nvSpPr>
          <p:cNvPr id="19" name="Text 8"/>
          <p:cNvSpPr/>
          <p:nvPr/>
        </p:nvSpPr>
        <p:spPr>
          <a:xfrm>
            <a:off x="1347754" y="3316327"/>
            <a:ext cx="1159937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49.19%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571202"/>
            <a:ext cx="82865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PAYMENT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705611"/>
            <a:ext cx="949767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Cash Leads slightly in payment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386" y="1113949"/>
            <a:ext cx="7676958" cy="109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AEE4B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4,310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09386" y="2722860"/>
            <a:ext cx="22708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transactions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" y="3219450"/>
            <a:ext cx="66673" cy="666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5273" y="3105646"/>
            <a:ext cx="608483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methods are the most evenly split,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45273" y="3419971"/>
            <a:ext cx="655819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cash leading slightly at 4,310 transactions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" y="3905250"/>
            <a:ext cx="66673" cy="666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273" y="3791446"/>
            <a:ext cx="325687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cash payments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45273" y="4105771"/>
            <a:ext cx="533942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and encourage digital payments.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069" y="2937173"/>
            <a:ext cx="1024011" cy="1578273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650" y="3960217"/>
            <a:ext cx="1742833" cy="1023441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654" y="2937173"/>
            <a:ext cx="1023416" cy="149592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7209" y="3471069"/>
            <a:ext cx="1181666" cy="228699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7209" y="3471069"/>
            <a:ext cx="1181666" cy="22869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248941" y="3521313"/>
            <a:ext cx="1608891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· 34.27%</a:t>
            </a:r>
            <a:endParaRPr lang="en-US" sz="9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0968" y="3538637"/>
            <a:ext cx="102986" cy="102989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7209" y="3801467"/>
            <a:ext cx="1613554" cy="215999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7209" y="3801467"/>
            <a:ext cx="1613554" cy="215999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0248941" y="3851712"/>
            <a:ext cx="1942754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Wallet · 32.95%</a:t>
            </a:r>
            <a:endParaRPr lang="en-US" sz="9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0968" y="3856335"/>
            <a:ext cx="102986" cy="102989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7209" y="4119066"/>
            <a:ext cx="1511957" cy="215999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87209" y="4119066"/>
            <a:ext cx="1511957" cy="215999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10248941" y="4160738"/>
            <a:ext cx="19427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Card · 32.77%</a:t>
            </a:r>
            <a:endParaRPr lang="en-US" sz="9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80968" y="4173934"/>
            <a:ext cx="102986" cy="102989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8868347" y="3281740"/>
            <a:ext cx="171336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· 34.27%</a:t>
            </a:r>
            <a:endParaRPr lang="en-US" sz="1000" dirty="0"/>
          </a:p>
        </p:txBody>
      </p:sp>
      <p:sp>
        <p:nvSpPr>
          <p:cNvPr id="28" name="Text 12"/>
          <p:cNvSpPr/>
          <p:nvPr/>
        </p:nvSpPr>
        <p:spPr>
          <a:xfrm>
            <a:off x="6475747" y="5064304"/>
            <a:ext cx="22016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Wallet · 32.9…</a:t>
            </a:r>
            <a:endParaRPr lang="en-US" sz="1000" dirty="0"/>
          </a:p>
        </p:txBody>
      </p:sp>
      <p:sp>
        <p:nvSpPr>
          <p:cNvPr id="29" name="Text 13"/>
          <p:cNvSpPr/>
          <p:nvPr/>
        </p:nvSpPr>
        <p:spPr>
          <a:xfrm>
            <a:off x="5629134" y="3235603"/>
            <a:ext cx="214733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Card · 32.77%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33313"/>
            <a:ext cx="32731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AND PRODUCTS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784986"/>
            <a:ext cx="7159545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Some customers and products</a:t>
            </a:r>
            <a:endParaRPr lang="en-US" sz="3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bring much more money</a:t>
            </a:r>
            <a:endParaRPr lang="en-US" sz="3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 others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386" y="2524621"/>
            <a:ext cx="816599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CUST_24: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$71,890 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most important customer to keep.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386" y="3343771"/>
            <a:ext cx="765721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Item_25_FUR: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$27,101 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highest-revenue product.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386" y="4162921"/>
            <a:ext cx="65108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an eye on these customers and products.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17032" y="2983786"/>
            <a:ext cx="68727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93776" y="2983786"/>
            <a:ext cx="88024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41559" y="2983786"/>
            <a:ext cx="88024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93609" y="2983786"/>
            <a:ext cx="88024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43971" y="2983786"/>
            <a:ext cx="88024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02855" y="3174286"/>
            <a:ext cx="153537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$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48910" y="1431211"/>
            <a:ext cx="129407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CUST_24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21010" y="2440861"/>
            <a:ext cx="166623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Item_25_FUR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24582" y="793036"/>
            <a:ext cx="101131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58008" y="1181100"/>
            <a:ext cx="2333567" cy="55245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783" y="1371600"/>
            <a:ext cx="266693" cy="1619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713670" y="1399778"/>
            <a:ext cx="8817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71.9k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58008" y="2181225"/>
            <a:ext cx="876278" cy="561975"/>
          </a:xfrm>
          <a:prstGeom prst="rect">
            <a:avLst/>
          </a:prstGeom>
          <a:solidFill>
            <a:srgbClr val="1F7135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544" y="2381250"/>
            <a:ext cx="247644" cy="1619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276324" y="2409428"/>
            <a:ext cx="8817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27.1k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4212"/>
            <a:ext cx="7740059" cy="19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PURCHASING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746390"/>
            <a:ext cx="9016477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F4F6F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Average Spending is Stable Across the week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4674172"/>
            <a:ext cx="10089600" cy="3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weekends to offer product bundles, related products, and special offers</a:t>
            </a:r>
            <a:endParaRPr lang="en-US" sz="17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043" y="2825452"/>
            <a:ext cx="3391212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9325" y="6475016"/>
            <a:ext cx="81694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01" y="1561405"/>
            <a:ext cx="6866460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582</Words>
  <Application>Microsoft Office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Medium</vt:lpstr>
      <vt:lpstr>Inter Bold</vt:lpstr>
      <vt:lpstr>Space Grotesk Bold</vt:lpstr>
      <vt:lpstr>Inter</vt:lpstr>
      <vt:lpstr>Space Grotesk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ayat</dc:creator>
  <cp:lastModifiedBy>ayat ahmed</cp:lastModifiedBy>
  <cp:revision>7</cp:revision>
  <dcterms:created xsi:type="dcterms:W3CDTF">2026-10-08T10:09:15Z</dcterms:created>
  <dcterms:modified xsi:type="dcterms:W3CDTF">2026-10-09T12:37:56Z</dcterms:modified>
</cp:coreProperties>
</file>